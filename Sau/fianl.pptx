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958" autoAdjust="0"/>
  </p:normalViewPr>
  <p:slideViewPr>
    <p:cSldViewPr snapToGrid="0">
      <p:cViewPr varScale="1">
        <p:scale>
          <a:sx n="64" d="100"/>
          <a:sy n="64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1D04E9-5E6C-408A-86BC-903140CB23A0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77F33-D4CA-4A4D-B49A-B2DF321EA7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701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柱状图（</a:t>
            </a:r>
            <a:r>
              <a:rPr lang="en-US" altLang="zh-CN" dirty="0"/>
              <a:t>2023</a:t>
            </a:r>
            <a:r>
              <a:rPr lang="zh-CN" altLang="en-US" dirty="0"/>
              <a:t>年）</a:t>
            </a:r>
            <a:br>
              <a:rPr lang="en-US" altLang="zh-CN" dirty="0"/>
            </a:br>
            <a:r>
              <a:rPr lang="zh-CN" altLang="en-US" dirty="0"/>
              <a:t>根据</a:t>
            </a:r>
            <a:r>
              <a:rPr lang="en-US" altLang="zh-CN" dirty="0"/>
              <a:t>2023</a:t>
            </a:r>
            <a:r>
              <a:rPr lang="zh-CN" altLang="en-US" dirty="0"/>
              <a:t>年的</a:t>
            </a:r>
            <a:r>
              <a:rPr lang="en-US" altLang="zh-CN" dirty="0"/>
              <a:t>co2</a:t>
            </a:r>
            <a:r>
              <a:rPr lang="zh-CN" altLang="en-US" dirty="0"/>
              <a:t>排放量，对各个国家进行大小排序，展示前</a:t>
            </a:r>
            <a:r>
              <a:rPr lang="en-US" altLang="zh-CN" dirty="0"/>
              <a:t>20</a:t>
            </a:r>
            <a:r>
              <a:rPr lang="zh-CN" altLang="en-US" dirty="0"/>
              <a:t>个国家（文件中的地区不参与排序）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77F33-D4CA-4A4D-B49A-B2DF321EA75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53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散点图（</a:t>
            </a:r>
            <a:r>
              <a:rPr lang="en-US" altLang="zh-CN" dirty="0"/>
              <a:t>2023</a:t>
            </a:r>
            <a:r>
              <a:rPr lang="zh-CN" altLang="en-US" dirty="0"/>
              <a:t>年）</a:t>
            </a:r>
            <a:br>
              <a:rPr lang="en-US" altLang="zh-CN" dirty="0"/>
            </a:br>
            <a:r>
              <a:rPr lang="zh-CN" altLang="en-US" dirty="0"/>
              <a:t>圆的大小代表人口，圆的颜色深浅代表</a:t>
            </a:r>
            <a:r>
              <a:rPr lang="en-US" altLang="zh-CN" dirty="0"/>
              <a:t>co2 / GDP</a:t>
            </a:r>
            <a:r>
              <a:rPr lang="zh-CN" altLang="en-US" dirty="0"/>
              <a:t>，横坐标为</a:t>
            </a:r>
            <a:r>
              <a:rPr lang="en-US" altLang="zh-CN" dirty="0"/>
              <a:t>co2</a:t>
            </a:r>
            <a:r>
              <a:rPr lang="zh-CN" altLang="en-US" dirty="0"/>
              <a:t>排放量，纵坐标为人均</a:t>
            </a:r>
            <a:r>
              <a:rPr lang="en-US" altLang="zh-CN" dirty="0"/>
              <a:t>co2</a:t>
            </a:r>
            <a:r>
              <a:rPr lang="zh-CN" altLang="en-US" dirty="0"/>
              <a:t>排放量</a:t>
            </a:r>
            <a:endParaRPr lang="en-US" altLang="zh-CN" dirty="0"/>
          </a:p>
          <a:p>
            <a:r>
              <a:rPr lang="zh-CN" altLang="en-US" dirty="0"/>
              <a:t>图一是</a:t>
            </a:r>
            <a:r>
              <a:rPr lang="en-US" altLang="zh-CN" dirty="0"/>
              <a:t>P1</a:t>
            </a:r>
            <a:r>
              <a:rPr lang="zh-CN" altLang="en-US" dirty="0"/>
              <a:t>筛出的前</a:t>
            </a:r>
            <a:r>
              <a:rPr lang="en-US" altLang="zh-CN" dirty="0"/>
              <a:t>20</a:t>
            </a:r>
            <a:r>
              <a:rPr lang="zh-CN" altLang="en-US" dirty="0"/>
              <a:t>的国家的散点图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图二是</a:t>
            </a:r>
            <a:r>
              <a:rPr lang="en-US" altLang="zh-CN" dirty="0"/>
              <a:t>P1</a:t>
            </a:r>
            <a:r>
              <a:rPr lang="zh-CN" altLang="en-US" dirty="0"/>
              <a:t>筛出的前</a:t>
            </a:r>
            <a:r>
              <a:rPr lang="en-US" altLang="zh-CN" dirty="0"/>
              <a:t>20</a:t>
            </a:r>
            <a:r>
              <a:rPr lang="zh-CN" altLang="en-US" dirty="0"/>
              <a:t>的国家的散点图，剔除中国，美国，印度，俄罗斯</a:t>
            </a:r>
            <a:br>
              <a:rPr lang="en-US" altLang="zh-CN" dirty="0"/>
            </a:br>
            <a:r>
              <a:rPr lang="zh-CN" altLang="en-US" dirty="0"/>
              <a:t>根据图二决定研究</a:t>
            </a:r>
            <a:r>
              <a:rPr lang="en-US" altLang="zh-CN" dirty="0"/>
              <a:t>SAU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77F33-D4CA-4A4D-B49A-B2DF321EA75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304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双轴折线图 （</a:t>
            </a:r>
            <a:r>
              <a:rPr lang="en-US" altLang="zh-CN" dirty="0"/>
              <a:t>1980-2023</a:t>
            </a:r>
            <a:r>
              <a:rPr lang="zh-CN" altLang="en-US" dirty="0"/>
              <a:t>年）</a:t>
            </a:r>
          </a:p>
          <a:p>
            <a:r>
              <a:rPr lang="zh-CN" altLang="en-US" dirty="0"/>
              <a:t>左轴：沙特历年 </a:t>
            </a:r>
            <a:r>
              <a:rPr lang="en-US" altLang="zh-CN" dirty="0"/>
              <a:t>CO2 </a:t>
            </a:r>
            <a:r>
              <a:rPr lang="zh-CN" altLang="en-US" dirty="0"/>
              <a:t>总排放量</a:t>
            </a:r>
          </a:p>
          <a:p>
            <a:r>
              <a:rPr lang="zh-CN" altLang="en-US" dirty="0"/>
              <a:t>右轴：沙特历年单位 </a:t>
            </a:r>
            <a:r>
              <a:rPr lang="en-US" altLang="zh-CN" dirty="0"/>
              <a:t>GDP </a:t>
            </a:r>
            <a:r>
              <a:rPr lang="zh-CN" altLang="en-US" dirty="0"/>
              <a:t>碳强度 </a:t>
            </a:r>
            <a:r>
              <a:rPr lang="en-US" altLang="zh-CN" dirty="0"/>
              <a:t>(Carbon Intensity)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77F33-D4CA-4A4D-B49A-B2DF321EA75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935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堆叠面积图 </a:t>
            </a:r>
            <a:r>
              <a:rPr lang="en-US" altLang="zh-CN" dirty="0"/>
              <a:t>(1980-2023</a:t>
            </a:r>
            <a:r>
              <a:rPr lang="zh-CN" altLang="en-US" dirty="0"/>
              <a:t>年</a:t>
            </a:r>
            <a:r>
              <a:rPr lang="en-GB" altLang="zh-CN" dirty="0"/>
              <a:t>)</a:t>
            </a:r>
          </a:p>
          <a:p>
            <a:r>
              <a:rPr lang="en-GB" altLang="zh-CN" dirty="0"/>
              <a:t>X </a:t>
            </a:r>
            <a:r>
              <a:rPr lang="zh-CN" altLang="en-US" dirty="0"/>
              <a:t>轴是年份（</a:t>
            </a:r>
            <a:r>
              <a:rPr lang="en-US" altLang="zh-CN" dirty="0"/>
              <a:t>1980-2023</a:t>
            </a:r>
            <a:r>
              <a:rPr lang="zh-CN" altLang="en-US" dirty="0"/>
              <a:t>），</a:t>
            </a:r>
            <a:r>
              <a:rPr lang="en-GB" altLang="zh-CN" dirty="0"/>
              <a:t>Y </a:t>
            </a:r>
            <a:r>
              <a:rPr lang="zh-CN" altLang="en-US" dirty="0"/>
              <a:t>轴是发电量（按来源切分）。</a:t>
            </a:r>
          </a:p>
          <a:p>
            <a:r>
              <a:rPr lang="zh-CN" altLang="en-US" dirty="0"/>
              <a:t>底部巨大色块：化石燃料发电 </a:t>
            </a:r>
            <a:r>
              <a:rPr lang="en-US" altLang="zh-CN" dirty="0"/>
              <a:t>(</a:t>
            </a:r>
            <a:r>
              <a:rPr lang="en-GB" altLang="zh-CN" dirty="0"/>
              <a:t>Fossil)</a:t>
            </a:r>
            <a:endParaRPr lang="zh-CN" altLang="en-GB" dirty="0"/>
          </a:p>
          <a:p>
            <a:r>
              <a:rPr lang="zh-CN" altLang="en-US" dirty="0"/>
              <a:t>顶部可能几乎看不见的线条：可再生能源 </a:t>
            </a:r>
            <a:r>
              <a:rPr lang="en-US" altLang="zh-CN" dirty="0"/>
              <a:t>(</a:t>
            </a:r>
            <a:r>
              <a:rPr lang="en-GB" altLang="zh-CN" dirty="0"/>
              <a:t>Renewables: Solar + Wind)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左下图：可再生能源大类里面的小类，和核能，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由代码可知：</a:t>
            </a:r>
            <a:endParaRPr lang="en-US" altLang="zh-CN" dirty="0"/>
          </a:p>
          <a:p>
            <a:pPr latinLnBrk="1"/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biomass-and-waste-generation-bkwh.csv</a:t>
            </a:r>
          </a:p>
          <a:p>
            <a:pPr latinLnBrk="1"/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geothermal-generation-bkwh.csv</a:t>
            </a:r>
          </a:p>
          <a:p>
            <a:pPr latinLnBrk="1"/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hydroelectric-pumped-storage-generation-bkwh.csv</a:t>
            </a:r>
          </a:p>
          <a:p>
            <a:pPr latinLnBrk="1"/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hydroelectricity-generation-bkwh.csv</a:t>
            </a:r>
          </a:p>
          <a:p>
            <a:pPr latinLnBrk="1"/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nuclear-generation-bkwh.csv</a:t>
            </a:r>
          </a:p>
          <a:p>
            <a:pPr latinLnBrk="1"/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other-gases-generation-bkwh.csv</a:t>
            </a:r>
          </a:p>
          <a:p>
            <a:pPr latinLnBrk="1"/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tide-and-wave-generation-bkwh.csv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沙特在</a:t>
            </a:r>
            <a:r>
              <a:rPr lang="en-US" altLang="zh-CN" dirty="0"/>
              <a:t>1980-2023</a:t>
            </a:r>
            <a:r>
              <a:rPr lang="zh-CN" altLang="en-US" dirty="0"/>
              <a:t>年的值均为</a:t>
            </a:r>
            <a:r>
              <a:rPr lang="en-US" altLang="zh-CN" dirty="0"/>
              <a:t>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altLang="zh-CN" dirty="0"/>
            </a:br>
            <a:r>
              <a:rPr lang="zh-CN" altLang="en-US" dirty="0"/>
              <a:t>右上图：英国的堆叠面积图 </a:t>
            </a:r>
            <a:r>
              <a:rPr lang="en-US" altLang="zh-CN" dirty="0"/>
              <a:t>(1980-2023</a:t>
            </a:r>
            <a:r>
              <a:rPr lang="zh-CN" altLang="en-US" dirty="0"/>
              <a:t>年</a:t>
            </a:r>
            <a:r>
              <a:rPr lang="en-GB" altLang="zh-CN" dirty="0"/>
              <a:t>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77F33-D4CA-4A4D-B49A-B2DF321EA75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925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77F33-D4CA-4A4D-B49A-B2DF321EA75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799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930F10-D6F0-F4D8-F511-D54644702D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0A0EB4B-BABC-5E82-5AEF-A83ED9953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98371C-3F49-42C0-DB3F-B9681D547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DFFED-CF4D-433C-AC03-54A5CEDA2A5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ED8C8E-A053-4076-98F0-C4F4DABD7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E65C6E-A57A-8510-8F6D-9490ED51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EF61C-BD36-4780-AEED-9C0279DB1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043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8C55E4-931D-5260-F47F-07CF76285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8071B5-4E46-FA56-FE47-545B212EB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826688-9C4D-3CB5-68D7-BFDEEC705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DFFED-CF4D-433C-AC03-54A5CEDA2A5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2B3E48-0015-2D33-195F-9ECCFC32E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0F6AB9-58AA-1D19-3138-633E73CB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EF61C-BD36-4780-AEED-9C0279DB1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0578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62B3F9-0538-91C1-D93D-FE6039518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E2A348-315F-1BC6-6D22-E9C6A188F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A67FFF-87E7-E5AC-2877-F7F1E392E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DFFED-CF4D-433C-AC03-54A5CEDA2A5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37B506-477C-DC3C-086F-B76845B46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963CED-AC33-4345-8676-0469CE0EA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EF61C-BD36-4780-AEED-9C0279DB1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833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5D6470-1840-196E-B8C9-04DCF141B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01866F-C665-1848-287C-B498DC6C3D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3200B3-E3E5-A27F-0023-2496C5EFF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E8FD85-65E3-B543-29F8-1924A3C62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DFFED-CF4D-433C-AC03-54A5CEDA2A5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1492E1-821A-9167-B99E-296B312E7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70DC5F-F8B4-2D78-A8E2-0A904F1FF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EF61C-BD36-4780-AEED-9C0279DB1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245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708838-36FF-2CEF-689D-273354F3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77D79D-371F-A9CF-4531-9702A1E9B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4FD85D-A0EB-DA9C-C7AD-5352DA25F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4F8BDA9-7B37-F773-B1FC-094A8B644C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1488B5-86E9-6980-AC83-ABF7572CA1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5EBF7DC-1062-06A5-4762-B17BB479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DFFED-CF4D-433C-AC03-54A5CEDA2A5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A236FD7-3E16-F5E8-DA1C-BDB575897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7626CDE-00C5-8BE5-6924-DBC4FEAEF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EF61C-BD36-4780-AEED-9C0279DB1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771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7179D4-DE94-492C-A483-7F2FA6D8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37A4E8A-CE8F-C052-0142-60CB233D5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DFFED-CF4D-433C-AC03-54A5CEDA2A5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B0AFEE-5D68-AFCA-A34A-B62AAD16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281691-16C1-7C6F-2A7B-17B6DB2ED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EF61C-BD36-4780-AEED-9C0279DB1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544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39EB72-9C4C-AB1D-44E0-563FB686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DFFED-CF4D-433C-AC03-54A5CEDA2A5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B81BDA0-96E4-95EC-EAEE-46B587925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785680-1F53-4D0F-9F50-C06D99589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EF61C-BD36-4780-AEED-9C0279DB1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03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8DAE5D-AE4E-28B7-7199-D3CF25566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888657-38AC-A301-821D-AF7DE0BB7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666C91-C88C-4563-FCD6-33CC63F10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BE2303-6C1C-8A69-979F-4E508B7B4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DFFED-CF4D-433C-AC03-54A5CEDA2A5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E895F7-19AB-3F6A-632F-84896A1DE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D4B9CA-DFF3-A09E-646C-247192822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EF61C-BD36-4780-AEED-9C0279DB1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2215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7567D7-5943-B2DC-966C-910ED1769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747DF44-8998-045C-BDF3-05893CEAEF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A6C40B-7374-C83D-FDBD-9C89EB715D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5407A4-EA6E-60EE-C3F3-CAFE33797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DFFED-CF4D-433C-AC03-54A5CEDA2A5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48CF21-5251-D7BC-B995-724A8D8D6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7D88A8-5C7F-6078-7406-339469CF3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EF61C-BD36-4780-AEED-9C0279DB1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850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43899-56E5-40B2-BE18-4510C6614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355A82-1EC7-B8FC-5006-3066A03B0E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9DD34F-537D-8485-DED1-1B5998709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DFFED-CF4D-433C-AC03-54A5CEDA2A5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6F0319-5B10-38BD-3E66-5F133D76A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34906E-06D4-7590-96F8-1C43EDE7A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EF61C-BD36-4780-AEED-9C0279DB1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230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D11C9D8-CDEC-B369-D61B-202793A3CD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B58F0C-FEE9-EFCC-81D8-D4C4AA472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3BDD4F-850E-A696-56D8-9D06F1A9F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DFFED-CF4D-433C-AC03-54A5CEDA2A5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E88B37-D980-D972-55E3-A65D00C30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239AC2-2852-2694-7F3B-2F515B225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EF61C-BD36-4780-AEED-9C0279DB1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41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D20C207-DB10-4805-8C1C-417D44756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9825BB-1900-AB5A-9598-A08D9B1E5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5C7A50-BA60-93A7-3BA4-114D729D7F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BDFFED-CF4D-433C-AC03-54A5CEDA2A5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D208F8-9931-519F-82FB-AF04BE997E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7F837C-AF9A-492A-00C0-4DE846C67C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AEF61C-BD36-4780-AEED-9C0279DB1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943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3DD597-E14A-1869-0C12-8FFE54B83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389" y="2001420"/>
            <a:ext cx="12155905" cy="2642769"/>
          </a:xfrm>
        </p:spPr>
        <p:txBody>
          <a:bodyPr>
            <a:noAutofit/>
          </a:bodyPr>
          <a:lstStyle/>
          <a:p>
            <a:r>
              <a:rPr lang="en-US" altLang="zh-CN" sz="4800" dirty="0"/>
              <a:t>The Decoupling Paradox: </a:t>
            </a:r>
            <a:br>
              <a:rPr lang="en-US" altLang="zh-CN" sz="4800" dirty="0"/>
            </a:br>
            <a:br>
              <a:rPr lang="en-US" altLang="zh-CN" sz="4800" dirty="0"/>
            </a:br>
            <a:r>
              <a:rPr lang="en-US" altLang="zh-CN" sz="4800" dirty="0"/>
              <a:t>Unmasking Structural Lock-in in the 2023 Carbon Footprint</a:t>
            </a:r>
            <a:endParaRPr lang="zh-CN" altLang="en-US" sz="4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37862B-EC97-99C0-9F6E-5DFF6B579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8969" y="5688263"/>
            <a:ext cx="3729788" cy="895100"/>
          </a:xfrm>
        </p:spPr>
        <p:txBody>
          <a:bodyPr>
            <a:normAutofit/>
          </a:bodyPr>
          <a:lstStyle/>
          <a:p>
            <a:r>
              <a:rPr lang="en-US" altLang="zh-CN" sz="1600" dirty="0"/>
              <a:t>Yuke Zhang   </a:t>
            </a:r>
            <a:r>
              <a:rPr lang="en-US" altLang="zh-CN" sz="1600" dirty="0" err="1"/>
              <a:t>Sirui</a:t>
            </a:r>
            <a:r>
              <a:rPr lang="en-US" altLang="zh-CN" sz="1600" dirty="0"/>
              <a:t> Ye</a:t>
            </a:r>
          </a:p>
          <a:p>
            <a:r>
              <a:rPr lang="en-US" altLang="zh-CN" sz="1600" dirty="0"/>
              <a:t>Climate and atmospheric science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4839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6F0381C-B529-E107-C52E-7E23AEB47D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90" y="0"/>
            <a:ext cx="120776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655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97ACC1F-93BD-0F17-468B-1ADC1E4041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34" y="1061884"/>
            <a:ext cx="5568071" cy="395493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4667861-2B3E-0C18-47F2-FFE8D487FB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892" y="1061884"/>
            <a:ext cx="6135740" cy="435814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C6FF435-7947-9B17-3E01-2E8BFE8A15D7}"/>
              </a:ext>
            </a:extLst>
          </p:cNvPr>
          <p:cNvSpPr/>
          <p:nvPr/>
        </p:nvSpPr>
        <p:spPr>
          <a:xfrm>
            <a:off x="4331368" y="3039353"/>
            <a:ext cx="806116" cy="6256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F59FE4-4C2C-230A-0A91-4C955A1E32B1}"/>
              </a:ext>
            </a:extLst>
          </p:cNvPr>
          <p:cNvSpPr/>
          <p:nvPr/>
        </p:nvSpPr>
        <p:spPr>
          <a:xfrm>
            <a:off x="2047805" y="2072816"/>
            <a:ext cx="806116" cy="6256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CE9042-48F2-A780-D7E6-C43E6737283A}"/>
              </a:ext>
            </a:extLst>
          </p:cNvPr>
          <p:cNvSpPr/>
          <p:nvPr/>
        </p:nvSpPr>
        <p:spPr>
          <a:xfrm>
            <a:off x="1241689" y="4159543"/>
            <a:ext cx="806116" cy="6256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B04637-5072-5712-174D-476B9BE3CBC3}"/>
              </a:ext>
            </a:extLst>
          </p:cNvPr>
          <p:cNvSpPr/>
          <p:nvPr/>
        </p:nvSpPr>
        <p:spPr>
          <a:xfrm>
            <a:off x="1033142" y="2385636"/>
            <a:ext cx="806116" cy="6256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3AA9B4-FBCB-5E4F-2406-BA9F3B699063}"/>
              </a:ext>
            </a:extLst>
          </p:cNvPr>
          <p:cNvSpPr/>
          <p:nvPr/>
        </p:nvSpPr>
        <p:spPr>
          <a:xfrm>
            <a:off x="8613036" y="1328112"/>
            <a:ext cx="806116" cy="35630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934521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B2990A1-A892-7F15-9BA4-0D2872A0C8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7007"/>
            <a:ext cx="12192000" cy="5640748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3120EAB-2520-B497-B8B4-4DD43596875E}"/>
              </a:ext>
            </a:extLst>
          </p:cNvPr>
          <p:cNvSpPr/>
          <p:nvPr/>
        </p:nvSpPr>
        <p:spPr>
          <a:xfrm>
            <a:off x="7868653" y="938463"/>
            <a:ext cx="3525252" cy="20574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425792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CE86574-CABC-B2C3-9C8E-E64B712360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7" y="168309"/>
            <a:ext cx="6418007" cy="29653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441AA96-878B-AF50-2210-6BD55BBD50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38" y="371747"/>
            <a:ext cx="5537395" cy="25584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D8EADA2-1CB8-8519-D2FF-A3A72006E2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9" y="3429000"/>
            <a:ext cx="6698226" cy="309552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1281B37-7DAB-73F8-CD14-CD1B0A69C233}"/>
              </a:ext>
            </a:extLst>
          </p:cNvPr>
          <p:cNvSpPr/>
          <p:nvPr/>
        </p:nvSpPr>
        <p:spPr>
          <a:xfrm>
            <a:off x="5603763" y="168309"/>
            <a:ext cx="1106905" cy="60157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41329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B3E1EAA-F5CC-5178-EB88-1489B4353F63}"/>
              </a:ext>
            </a:extLst>
          </p:cNvPr>
          <p:cNvSpPr txBox="1"/>
          <p:nvPr/>
        </p:nvSpPr>
        <p:spPr>
          <a:xfrm>
            <a:off x="399047" y="1172074"/>
            <a:ext cx="11500185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000" b="1" dirty="0"/>
              <a:t>This study demonstrates that simply looking at total emissions masks the deep, structural differences between countries. </a:t>
            </a:r>
          </a:p>
          <a:p>
            <a:pPr>
              <a:buNone/>
            </a:pPr>
            <a:endParaRPr lang="en-US" altLang="zh-CN" sz="2000" b="1" dirty="0"/>
          </a:p>
          <a:p>
            <a:pPr>
              <a:buNone/>
            </a:pPr>
            <a:r>
              <a:rPr lang="en-US" altLang="zh-CN" sz="2000" b="1" dirty="0"/>
              <a:t>The case of Saudi Arabia clearly highlights the limits of "relative decoupling": efficiency improvements simply cannot outpace the explosive growth in overall energy demand. </a:t>
            </a:r>
          </a:p>
          <a:p>
            <a:pPr>
              <a:buNone/>
            </a:pPr>
            <a:endParaRPr lang="en-US" altLang="zh-CN" sz="2000" b="1" dirty="0"/>
          </a:p>
          <a:p>
            <a:pPr>
              <a:buNone/>
            </a:pPr>
            <a:r>
              <a:rPr lang="en-US" altLang="zh-CN" sz="2000" b="1" dirty="0"/>
              <a:t>By comparing Saudi Arabia with the UK, it becomes clear that the true driver of a nation's carbon footprint is its underlying energy architecture.</a:t>
            </a:r>
          </a:p>
          <a:p>
            <a:pPr>
              <a:buNone/>
            </a:pPr>
            <a:endParaRPr lang="en-US" altLang="zh-CN" sz="2000" b="1" dirty="0"/>
          </a:p>
          <a:p>
            <a:pPr>
              <a:buNone/>
            </a:pPr>
            <a:r>
              <a:rPr lang="en-US" altLang="zh-CN" sz="2000" b="1" dirty="0"/>
              <a:t> Saudi Arabia's high emissions are the result of a "structural carbon lock-in," with a grid relying almost 100% on fossil fuels. In contrast, the UK achieved "absolute decoupling" by systematically replacing its fossil-fuel baseload with a diverse mix of clean energy, such as wind and nuclear power.</a:t>
            </a:r>
          </a:p>
          <a:p>
            <a:pPr>
              <a:buNone/>
            </a:pPr>
            <a:endParaRPr lang="en-US" altLang="zh-CN" sz="2000" b="1" dirty="0"/>
          </a:p>
          <a:p>
            <a:pPr>
              <a:buNone/>
            </a:pPr>
            <a:r>
              <a:rPr lang="en-US" altLang="zh-CN" sz="2000" b="1" dirty="0"/>
              <a:t>Therefore, the ultimate solution for global emission reduction must shift from merely "controlling surface-level totals" to "breaking the underlying structural lock-in." The real path forward is fundamentally rebuilding national energy grids to be clean, diverse, and sustainable.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6144CE8-22DE-ACD3-0F0C-AE2ABD33008F}"/>
              </a:ext>
            </a:extLst>
          </p:cNvPr>
          <p:cNvSpPr txBox="1"/>
          <p:nvPr/>
        </p:nvSpPr>
        <p:spPr>
          <a:xfrm>
            <a:off x="399047" y="156411"/>
            <a:ext cx="40887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/>
              <a:t>conclusion</a:t>
            </a:r>
            <a:endParaRPr lang="zh-CN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1212159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449</Words>
  <Application>Microsoft Office PowerPoint</Application>
  <PresentationFormat>宽屏</PresentationFormat>
  <Paragraphs>41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The Decoupling Paradox:   Unmasking Structural Lock-in in the 2023 Carbon Footprint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Yuke Zhang [vllq0639]</dc:creator>
  <cp:lastModifiedBy>思睿 叶</cp:lastModifiedBy>
  <cp:revision>15</cp:revision>
  <dcterms:created xsi:type="dcterms:W3CDTF">2026-03-30T19:38:35Z</dcterms:created>
  <dcterms:modified xsi:type="dcterms:W3CDTF">2026-03-31T11:08:45Z</dcterms:modified>
</cp:coreProperties>
</file>